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A2332"/>
                </a:solidFill>
              </a:defRPr>
            </a:pPr>
            <a:r>
              <a:t>gRPC in the Service Mesh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651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5C6B7A"/>
                </a:solidFill>
              </a:defRPr>
            </a:pPr>
            <a:r>
              <a:t>Connection pools · DestinationRule knobs · Lab 1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91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C6B7A"/>
                </a:solidFill>
              </a:defRPr>
            </a:pPr>
            <a:r>
              <a:t>Garanti BBVA · OSSM 3 sidecar · OpenShift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6EB8"/>
                </a:solidFill>
              </a:defRPr>
            </a:pPr>
            <a:r>
              <a:t>Inside the sidecar — where TCP connections &amp; pools are established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2011680"/>
            <a:ext cx="1188720" cy="822960"/>
          </a:xfrm>
          <a:prstGeom prst="roundRect">
            <a:avLst/>
          </a:prstGeom>
          <a:solidFill>
            <a:srgbClr val="E8F4FC"/>
          </a:solidFill>
          <a:ln w="19050">
            <a:solidFill>
              <a:srgbClr val="006E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2D3748"/>
                </a:solidFill>
              </a:defRPr>
            </a:pPr>
            <a:r>
              <a:t>Fortio</a:t>
            </a:r>
            <a:br/>
            <a:r>
              <a:t>-c = parallelism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91640" y="2148840"/>
            <a:ext cx="822960" cy="548640"/>
          </a:xfrm>
          <a:prstGeom prst="roundRect">
            <a:avLst/>
          </a:prstGeom>
          <a:solidFill>
            <a:srgbClr val="D0E8F8"/>
          </a:solidFill>
          <a:ln w="19050">
            <a:solidFill>
              <a:srgbClr val="006E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D3748"/>
                </a:solidFill>
              </a:defRPr>
            </a:pPr>
            <a:r>
              <a:t>Conn 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554480" y="2423160"/>
            <a:ext cx="137160" cy="0"/>
          </a:xfrm>
          <a:prstGeom prst="line">
            <a:avLst/>
          </a:prstGeom>
          <a:ln w="25400">
            <a:solidFill>
              <a:srgbClr val="006E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651760" y="1188720"/>
            <a:ext cx="4389120" cy="3200400"/>
          </a:xfrm>
          <a:prstGeom prst="roundRect">
            <a:avLst/>
          </a:prstGeom>
          <a:noFill/>
          <a:ln>
            <a:solidFill>
              <a:srgbClr val="5C6B7A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34640" y="12801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C6B7A"/>
                </a:solidFill>
              </a:defRPr>
            </a:pPr>
            <a:r>
              <a:t>grpc-client pod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34640" y="1600200"/>
            <a:ext cx="4023360" cy="25603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006E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2D3748"/>
                </a:solidFill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2926080" y="169164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6EB8"/>
                </a:solidFill>
              </a:defRPr>
            </a:pPr>
            <a:r>
              <a:t>istio-proxy (Envoy)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71800" y="2057400"/>
            <a:ext cx="1371600" cy="50292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006E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2D3748"/>
                </a:solidFill>
              </a:defRPr>
            </a:pPr>
            <a:r>
              <a:t>Inbound listener</a:t>
            </a:r>
            <a:br/>
            <a:r>
              <a:t>app → :15001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2057400"/>
            <a:ext cx="1234440" cy="50292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006E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D3748"/>
                </a:solidFill>
              </a:defRPr>
            </a:pPr>
            <a:r>
              <a:t>Router / LB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80360" y="2697480"/>
            <a:ext cx="3931920" cy="132588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E8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2D3748"/>
                </a:solidFill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2926080" y="274320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86C00"/>
                </a:solidFill>
              </a:defRPr>
            </a:pPr>
            <a:r>
              <a:t>Outbound cluster (grpc-echo)  ◄  DestinationRule applies HERE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71800" y="3154680"/>
            <a:ext cx="114300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2D3748"/>
                </a:solidFill>
              </a:defRPr>
            </a:pPr>
            <a:r>
              <a:t>Pool→Pod A</a:t>
            </a:r>
            <a:br/>
            <a:r>
              <a:t>TCP+HTTP/2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51960" y="3154680"/>
            <a:ext cx="114300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2D3748"/>
                </a:solidFill>
              </a:defRPr>
            </a:pPr>
            <a:r>
              <a:t>Pool→Pod B</a:t>
            </a:r>
            <a:br/>
            <a:r>
              <a:t>TCP+HTTP/2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532120" y="3154680"/>
            <a:ext cx="114300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2D3748"/>
                </a:solidFill>
              </a:defRPr>
            </a:pPr>
            <a:r>
              <a:t>Pool→Pod C</a:t>
            </a:r>
            <a:br/>
            <a:r>
              <a:t>TCP+HTTP/2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2514600" y="2286000"/>
            <a:ext cx="457200" cy="137160"/>
          </a:xfrm>
          <a:prstGeom prst="line">
            <a:avLst/>
          </a:prstGeom>
          <a:ln w="25400">
            <a:solidFill>
              <a:srgbClr val="006E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206240" y="2560320"/>
            <a:ext cx="0" cy="137160"/>
          </a:xfrm>
          <a:prstGeom prst="line">
            <a:avLst/>
          </a:prstGeom>
          <a:ln w="25400">
            <a:solidFill>
              <a:srgbClr val="E86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178040" y="2148840"/>
            <a:ext cx="822960" cy="548640"/>
          </a:xfrm>
          <a:prstGeom prst="roundRect">
            <a:avLst/>
          </a:prstGeom>
          <a:solidFill>
            <a:srgbClr val="FFE8CC"/>
          </a:solidFill>
          <a:ln w="19050">
            <a:solidFill>
              <a:srgbClr val="E8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D3748"/>
                </a:solidFill>
              </a:defRPr>
            </a:pPr>
            <a:r>
              <a:t>Conn B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6812280" y="2468880"/>
            <a:ext cx="365760" cy="731520"/>
          </a:xfrm>
          <a:prstGeom prst="line">
            <a:avLst/>
          </a:prstGeom>
          <a:ln w="25400">
            <a:solidFill>
              <a:srgbClr val="E86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183879" y="1417320"/>
            <a:ext cx="1097280" cy="594360"/>
          </a:xfrm>
          <a:prstGeom prst="roundRect">
            <a:avLst/>
          </a:prstGeom>
          <a:solidFill>
            <a:srgbClr val="E6F4EA"/>
          </a:solidFill>
          <a:ln w="19050">
            <a:solidFill>
              <a:srgbClr val="2B8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2D3748"/>
                </a:solidFill>
              </a:defRPr>
            </a:pPr>
            <a:r>
              <a:t>echo Pod</a:t>
            </a:r>
            <a:br/>
            <a:r>
              <a:t>A</a:t>
            </a:r>
          </a:p>
        </p:txBody>
      </p:sp>
      <p:cxnSp>
        <p:nvCxnSpPr>
          <p:cNvPr id="22" name="Connector 21"/>
          <p:cNvCxnSpPr/>
          <p:nvPr/>
        </p:nvCxnSpPr>
        <p:spPr>
          <a:xfrm flipV="1">
            <a:off x="8001000" y="1709928"/>
            <a:ext cx="182879" cy="713232"/>
          </a:xfrm>
          <a:prstGeom prst="line">
            <a:avLst/>
          </a:prstGeom>
          <a:ln w="25400">
            <a:solidFill>
              <a:srgbClr val="E86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8183879" y="2148840"/>
            <a:ext cx="1097280" cy="594360"/>
          </a:xfrm>
          <a:prstGeom prst="roundRect">
            <a:avLst/>
          </a:prstGeom>
          <a:solidFill>
            <a:srgbClr val="E6F4EA"/>
          </a:solidFill>
          <a:ln w="19050">
            <a:solidFill>
              <a:srgbClr val="2B8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2D3748"/>
                </a:solidFill>
              </a:defRPr>
            </a:pPr>
            <a:r>
              <a:t>echo Pod</a:t>
            </a:r>
            <a:br/>
            <a:r>
              <a:t>B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001000" y="2423160"/>
            <a:ext cx="182879" cy="18288"/>
          </a:xfrm>
          <a:prstGeom prst="line">
            <a:avLst/>
          </a:prstGeom>
          <a:ln w="25400">
            <a:solidFill>
              <a:srgbClr val="E86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183879" y="2880360"/>
            <a:ext cx="1097280" cy="594360"/>
          </a:xfrm>
          <a:prstGeom prst="roundRect">
            <a:avLst/>
          </a:prstGeom>
          <a:solidFill>
            <a:srgbClr val="E6F4EA"/>
          </a:solidFill>
          <a:ln w="19050">
            <a:solidFill>
              <a:srgbClr val="2B8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2D3748"/>
                </a:solidFill>
              </a:defRPr>
            </a:pPr>
            <a:r>
              <a:t>echo Pod</a:t>
            </a:r>
            <a:br/>
            <a:r>
              <a:t>C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001000" y="2423160"/>
            <a:ext cx="182879" cy="749808"/>
          </a:xfrm>
          <a:prstGeom prst="line">
            <a:avLst/>
          </a:prstGeom>
          <a:ln w="25400">
            <a:solidFill>
              <a:srgbClr val="E86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418320" y="1371600"/>
            <a:ext cx="2560320" cy="256032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5C6B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2D3748"/>
                </a:solidFill>
              </a:defRPr>
            </a:pPr>
          </a:p>
        </p:txBody>
      </p:sp>
      <p:sp>
        <p:nvSpPr>
          <p:cNvPr id="28" name="TextBox 27"/>
          <p:cNvSpPr txBox="1"/>
          <p:nvPr/>
        </p:nvSpPr>
        <p:spPr>
          <a:xfrm>
            <a:off x="9555480" y="1463040"/>
            <a:ext cx="22860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</a:defRPr>
            </a:pPr>
            <a:r>
              <a:t>Established by:</a:t>
            </a:r>
            <a:br/>
            <a:r>
              <a:t>• Conn A — Fortio → sidecar (not DR)</a:t>
            </a:r>
            <a:br/>
            <a:r>
              <a:t>• Conn B — Envoy → each echo pod</a:t>
            </a:r>
            <a:br/>
            <a:br/>
            <a:r>
              <a:t>Pool = per backend pod IP</a:t>
            </a:r>
            <a:br/>
            <a:r>
              <a:t>• HTTP/2 multiplexes many RPCs</a:t>
            </a:r>
            <a:br/>
            <a:r>
              <a:t>• Extra -c may add pools (~6)</a:t>
            </a:r>
            <a:br/>
            <a:br/>
            <a:r>
              <a:t>Lab: check.sh connections</a:t>
            </a:r>
            <a:br/>
            <a:r>
              <a:t>(port after outbound| in logs)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663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2332"/>
                </a:solidFill>
              </a:defRPr>
            </a:pPr>
            <a:r>
              <a:t>Conn A = app→proxy  ·  Conn B + pools = trafficPolicy.connectionPool on grpc-echo host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6EB8"/>
                </a:solidFill>
              </a:defRPr>
            </a:pPr>
            <a:r>
              <a:t>DestinationRule knobs — layer, lab step, what to watch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005840"/>
          <a:ext cx="918972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005840"/>
                <a:gridCol w="2926080"/>
                <a:gridCol w="502920"/>
                <a:gridCol w="2194560"/>
              </a:tblGrid>
              <a:tr h="3860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Setting (DR)</a:t>
                      </a:r>
                    </a:p>
                  </a:txBody>
                  <a:tcPr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Layer</a:t>
                      </a:r>
                    </a:p>
                  </a:txBody>
                  <a:tcPr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Operates on</a:t>
                      </a:r>
                    </a:p>
                  </a:txBody>
                  <a:tcPr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Lab</a:t>
                      </a:r>
                    </a:p>
                  </a:txBody>
                  <a:tcPr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Observe</a:t>
                      </a:r>
                    </a:p>
                  </a:txBody>
                  <a:tcPr>
                    <a:solidFill>
                      <a:srgbClr val="1A2332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D3748"/>
                          </a:solidFill>
                        </a:defRPr>
                      </a:pPr>
                      <a:r>
                        <a:t>loadBalancer: ROUND_ROBIN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D3748"/>
                          </a:solidFill>
                        </a:defRPr>
                      </a:pPr>
                      <a:r>
                        <a:t>HTTP/gRPC L7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D3748"/>
                          </a:solidFill>
                        </a:defRPr>
                      </a:pPr>
                      <a:r>
                        <a:t>Router — which pod per RPC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D3748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D3748"/>
                          </a:solidFill>
                        </a:defRPr>
                      </a:pPr>
                      <a:r>
                        <a:t>watch-pods.sh · check.sh pods</a:t>
                      </a:r>
                    </a:p>
                  </a:txBody>
                  <a:tcPr/>
                </a:tc>
              </a:tr>
              <a:tr h="38608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D3748"/>
                          </a:solidFill>
                        </a:defRPr>
                      </a:pPr>
                      <a:r>
                        <a:t>http.maxRequestsPerConnection: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D3748"/>
                          </a:solidFill>
                        </a:defRPr>
                      </a:pPr>
                      <a:r>
                        <a:t>HTTP/2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D3748"/>
                          </a:solidFill>
                        </a:defRPr>
                      </a:pPr>
                      <a:r>
                        <a:t>Recycle TCP after N RPCs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D3748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D3748"/>
                          </a:solidFill>
                        </a:defRPr>
                      </a:pPr>
                      <a:r>
                        <a:t>check.sh connections → churn</a:t>
                      </a:r>
                    </a:p>
                  </a:txBody>
                  <a:tcPr/>
                </a:tc>
              </a:tr>
              <a:tr h="38608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D3748"/>
                          </a:solidFill>
                        </a:defRPr>
                      </a:pPr>
                      <a:r>
                        <a:t>tcp.maxConnections: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D3748"/>
                          </a:solidFill>
                        </a:defRPr>
                      </a:pPr>
                      <a:r>
                        <a:t>TCP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D3748"/>
                          </a:solidFill>
                        </a:defRPr>
                      </a:pPr>
                      <a:r>
                        <a:t>Cap parallel TCP per pod host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D3748"/>
                          </a:solidFill>
                        </a:defRPr>
                      </a:pPr>
                      <a:r>
                        <a:t>2b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D3748"/>
                          </a:solidFill>
                        </a:defRPr>
                      </a:pPr>
                      <a:r>
                        <a:t>check.sh connections (~3, -c 1)</a:t>
                      </a:r>
                    </a:p>
                  </a:txBody>
                  <a:tcPr/>
                </a:tc>
              </a:tr>
              <a:tr h="38608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D3748"/>
                          </a:solidFill>
                        </a:defRPr>
                      </a:pPr>
                      <a:r>
                        <a:t>http.idleTimeout: 5s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D3748"/>
                          </a:solidFill>
                        </a:defRPr>
                      </a:pPr>
                      <a:r>
                        <a:t>HTTP/2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D3748"/>
                          </a:solidFill>
                        </a:defRPr>
                      </a:pPr>
                      <a:r>
                        <a:t>Close when no active RPCs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D3748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D3748"/>
                          </a:solidFill>
                        </a:defRPr>
                      </a:pPr>
                      <a:r>
                        <a:t>check.sh connections 90s</a:t>
                      </a:r>
                    </a:p>
                  </a:txBody>
                  <a:tcPr/>
                </a:tc>
              </a:tr>
              <a:tr h="38608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D3748"/>
                          </a:solidFill>
                        </a:defRPr>
                      </a:pPr>
                      <a:r>
                        <a:t>tcp.tcpKeepalive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D3748"/>
                          </a:solidFill>
                        </a:defRPr>
                      </a:pPr>
                      <a:r>
                        <a:t>TCP (kernel)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D3748"/>
                          </a:solidFill>
                        </a:defRPr>
                      </a:pPr>
                      <a:r>
                        <a:t>Dead peer / NAT probes (≠ HTTP idle)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D3748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D3748"/>
                          </a:solidFill>
                        </a:defRPr>
                      </a:pPr>
                      <a:r>
                        <a:t>tcpdump (not port count)</a:t>
                      </a:r>
                    </a:p>
                  </a:txBody>
                  <a:tcPr/>
                </a:tc>
              </a:tr>
              <a:tr h="38608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D3748"/>
                          </a:solidFill>
                        </a:defRPr>
                      </a:pPr>
                      <a:r>
                        <a:t>http.http2MaxRequests: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D3748"/>
                          </a:solidFill>
                        </a:defRPr>
                      </a:pPr>
                      <a:r>
                        <a:t>HTTP/2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D3748"/>
                          </a:solidFill>
                        </a:defRPr>
                      </a:pPr>
                      <a:r>
                        <a:t>Max concurrent streams per conn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D3748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D3748"/>
                          </a:solidFill>
                        </a:defRPr>
                      </a:pPr>
                      <a:r>
                        <a:t>check.sh errors</a:t>
                      </a:r>
                    </a:p>
                  </a:txBody>
                  <a:tcPr/>
                </a:tc>
              </a:tr>
              <a:tr h="38608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D3748"/>
                          </a:solidFill>
                        </a:defRPr>
                      </a:pPr>
                      <a:r>
                        <a:t>Service port name grpc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D3748"/>
                          </a:solidFill>
                        </a:defRPr>
                      </a:pPr>
                      <a:r>
                        <a:t>Discovery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D3748"/>
                          </a:solidFill>
                        </a:defRPr>
                      </a:pPr>
                      <a:r>
                        <a:t>Protocol / cluster selection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D3748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D3748"/>
                          </a:solidFill>
                        </a:defRPr>
                      </a:pPr>
                      <a:r>
                        <a:t>check.sh pods</a:t>
                      </a:r>
                    </a:p>
                  </a:txBody>
                  <a:tcPr/>
                </a:tc>
              </a:tr>
              <a:tr h="38608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D3748"/>
                          </a:solidFill>
                        </a:defRPr>
                      </a:pPr>
                      <a:r>
                        <a:t>Gateway protocol: GRPC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D3748"/>
                          </a:solidFill>
                        </a:defRPr>
                      </a:pPr>
                      <a:r>
                        <a:t>Ingress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D3748"/>
                          </a:solidFill>
                        </a:defRPr>
                      </a:pPr>
                      <a:r>
                        <a:t>Gateway listener (not sidecar)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D3748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D3748"/>
                          </a:solidFill>
                        </a:defRPr>
                      </a:pPr>
                      <a:r>
                        <a:t>test-gateway-grpc.sh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61772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6EB8"/>
                </a:solidFill>
              </a:defRPr>
            </a:pPr>
            <a:r>
              <a:t>Client (not DR):  Fortio -c = Conn A parallelism  ·  -qps = rate (not TCP count)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461772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6C00"/>
                </a:solidFill>
              </a:defRPr>
            </a:pPr>
            <a:r>
              <a:t>Access log:  before outbound| = echo pod IP  ·  after outbound| = Conn B local 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